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7" r:id="rId5"/>
    <p:sldId id="259" r:id="rId6"/>
    <p:sldId id="260" r:id="rId7"/>
    <p:sldId id="262" r:id="rId8"/>
    <p:sldId id="263" r:id="rId9"/>
    <p:sldId id="268" r:id="rId10"/>
    <p:sldId id="266" r:id="rId11"/>
  </p:sldIdLst>
  <p:sldSz cx="9144000" cy="5143500" type="screen16x9"/>
  <p:notesSz cx="6858000" cy="9144000"/>
  <p:embeddedFontLst>
    <p:embeddedFont>
      <p:font typeface="Manrope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481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3077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Team Name : </a:t>
            </a:r>
            <a:r>
              <a:rPr lang="en-GB" sz="16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SatyaSetu</a:t>
            </a:r>
            <a:endParaRPr sz="1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Problem Statement : Digital Text is full of traps. </a:t>
            </a:r>
            <a:r>
              <a:rPr lang="en-GB" sz="16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SatyaSetu</a:t>
            </a:r>
            <a:r>
              <a:rPr lang="en-GB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shows </a:t>
            </a:r>
            <a:r>
              <a:rPr lang="en-GB" sz="160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the truth.</a:t>
            </a:r>
            <a:endParaRPr sz="1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Team Leader Name : Rupali Rana</a:t>
            </a:r>
            <a:endParaRPr sz="16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55850" y="619000"/>
            <a:ext cx="8832300" cy="4144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IN" sz="1200" b="1" u="sng" dirty="0" err="1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SatyaSetu</a:t>
            </a:r>
            <a:r>
              <a:rPr lang="en-IN" sz="1200" b="1" u="sng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– AI-Powered Digital Reasoning Assistant for Bharat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IN" sz="1200" b="1" dirty="0" err="1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SatyaSetu</a:t>
            </a:r>
            <a:r>
              <a:rPr lang="en-IN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is a </a:t>
            </a:r>
            <a:r>
              <a:rPr lang="en-IN" sz="1200" b="1" dirty="0" err="1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GenAI</a:t>
            </a:r>
            <a:r>
              <a:rPr lang="en-IN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-powered digital reasoning assistant </a:t>
            </a:r>
            <a:r>
              <a:rPr lang="en-IN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designed to strengthen community-level digital literacy across Bharat.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IN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The platform </a:t>
            </a:r>
            <a:r>
              <a:rPr lang="en-IN" sz="1200" b="1" dirty="0" err="1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analyzes</a:t>
            </a:r>
            <a:r>
              <a:rPr lang="en-IN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unstructured digital text </a:t>
            </a:r>
            <a:r>
              <a:rPr lang="en-IN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— including articles, opinion pieces, and online posts — to detect logical fallacies and manipulation signals such as emotional exaggeration, fear-based persuasion, false dilemmas, and biased framing.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IN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Using transformer-based large language models, </a:t>
            </a:r>
            <a:r>
              <a:rPr lang="en-IN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SatyaSetu</a:t>
            </a:r>
            <a:r>
              <a:rPr lang="en-IN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</a:t>
            </a:r>
            <a:r>
              <a:rPr lang="en-IN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generates contextual explanations, confidence scores, and balanced rewrite suggestions</a:t>
            </a:r>
            <a:r>
              <a:rPr lang="en-IN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. Instead of </a:t>
            </a:r>
            <a:r>
              <a:rPr lang="en-IN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labeling</a:t>
            </a:r>
            <a:r>
              <a:rPr lang="en-IN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content as “true” or “false,” it promotes critical thinking by making reasoning patterns transparent and understandable.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IN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SatyaSetu</a:t>
            </a:r>
            <a:r>
              <a:rPr lang="en-IN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empowers communities to make informed decisions in an increasingly complex digital information ecosystem.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lang="en-IN" sz="1200" b="1" dirty="0">
              <a:solidFill>
                <a:srgbClr val="202729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1200" b="1" dirty="0">
              <a:solidFill>
                <a:srgbClr val="202729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73477" y="533940"/>
            <a:ext cx="9438356" cy="480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</a:pPr>
            <a:r>
              <a:rPr lang="en-US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1. Not a Fact-Checker</a:t>
            </a:r>
            <a:b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</a:b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   -Most existing tools focus on verifying factual claims.</a:t>
            </a:r>
            <a:b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</a:b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   -</a:t>
            </a:r>
            <a:r>
              <a:rPr lang="en-US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SatyaSetu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analyzes reasoning quality and persuasive techniques</a:t>
            </a: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</a:pPr>
            <a:r>
              <a:rPr lang="en-US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2. Context-Aware </a:t>
            </a:r>
            <a:r>
              <a:rPr lang="en-US" sz="1200" b="1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GenAI</a:t>
            </a:r>
            <a:b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</a:b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   -Unlike rule-based keyword systems, </a:t>
            </a:r>
            <a:r>
              <a:rPr lang="en-US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SatyaSetu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uses transformer-based semantic reasoning to detect nuanced fallacies and rhetorical manipulation across varied phrasing.</a:t>
            </a: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</a:pPr>
            <a:r>
              <a:rPr lang="en-US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3. Explanation-First Design</a:t>
            </a:r>
            <a:b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</a:b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Instead of giving binary labels, the system:</a:t>
            </a:r>
            <a:b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</a:b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   -Explains detected reasoning patterns</a:t>
            </a:r>
            <a:b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</a:b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   -Provides probabilistic confidence scores</a:t>
            </a:r>
            <a:b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</a:b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   -Suggests balanced rewrites</a:t>
            </a: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</a:pPr>
            <a:r>
              <a:rPr lang="en-US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4. Community-Centric &amp; Responsible</a:t>
            </a:r>
            <a:b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</a:b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   -Avoids definitive labeling</a:t>
            </a:r>
            <a:b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</a:b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   -Encourages informed judgment</a:t>
            </a:r>
            <a:b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</a:b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   -Designed for digital literacy, not censorship</a:t>
            </a: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</a:pPr>
            <a:endParaRPr lang="en-US" sz="12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73476" y="619002"/>
            <a:ext cx="8970524" cy="4524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Unique Selling Proposition</a:t>
            </a:r>
            <a:endParaRPr lang="en-US" sz="12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1.Reasoning-Level Analysis, Not Just Fact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-Checking</a:t>
            </a:r>
            <a:endParaRPr lang="en-US" sz="1200" b="1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Most existing tools focus on verifying factual </a:t>
            </a:r>
            <a:r>
              <a:rPr lang="en-US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accuracy.SatyaSetu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goes deeper — it analyzes how information is presented, identifying flawed reasoning structures and persuasive manipulation patterns that traditional fact-checkers miss. </a:t>
            </a: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endParaRPr lang="en-US" sz="12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2.</a:t>
            </a:r>
            <a:r>
              <a:rPr lang="en-US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Context-Aware Generative AI (Not Rule-Based Detection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)</a:t>
            </a: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Unlike keyword-based systems, </a:t>
            </a:r>
            <a:r>
              <a:rPr lang="en-US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SatyaSetu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uses transformer-based large language models to understand semantic context, tone, and argument </a:t>
            </a:r>
            <a:r>
              <a:rPr lang="en-US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structure.This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enables detection of nuanced fallacies and rhetorical manipulation across varied phrasing and writing styles</a:t>
            </a:r>
          </a:p>
          <a:p>
            <a:pPr marL="342900" lvl="0" indent="-34290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  <a:buAutoNum type="arabicPeriod"/>
            </a:pPr>
            <a:endParaRPr lang="en-US" sz="12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3.</a:t>
            </a:r>
            <a:r>
              <a:rPr lang="en-US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Explanation-First, Education-Centric Design</a:t>
            </a: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Instead of producing binary labels (“true” or “false”), </a:t>
            </a:r>
            <a:r>
              <a:rPr lang="en-US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SatyaSetu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:</a:t>
            </a: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	Explains why a reasoning pattern is detected</a:t>
            </a: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	Provides confidence scores</a:t>
            </a: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	Suggests balanced </a:t>
            </a:r>
            <a:r>
              <a:rPr lang="en-US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rewritesPromotes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critical thinking rather than censorship</a:t>
            </a: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This makes it a digital literacy tool, not just a moderation system</a:t>
            </a:r>
          </a:p>
          <a:p>
            <a:pPr marL="342900" lvl="0" indent="-34290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  <a:buAutoNum type="arabicPeriod"/>
            </a:pPr>
            <a:endParaRPr lang="en-US" sz="12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4.</a:t>
            </a:r>
            <a:r>
              <a:rPr lang="en-US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Community-Centric &amp; Bharat-Aligned</a:t>
            </a: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Designed with public impact in mind, </a:t>
            </a:r>
            <a:r>
              <a:rPr lang="en-US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SatyaSetu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aims </a:t>
            </a:r>
            <a:r>
              <a:rPr lang="en-US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to:Strengthen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informed civic </a:t>
            </a:r>
            <a:r>
              <a:rPr lang="en-US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discourseSupport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digital literacy </a:t>
            </a:r>
            <a:r>
              <a:rPr lang="en-US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initiativesEnable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scalable deployment across diverse digital </a:t>
            </a:r>
            <a:r>
              <a:rPr lang="en-US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communitiesProvide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a roadmap for multilingual expansion across Indian languages</a:t>
            </a:r>
          </a:p>
          <a:p>
            <a:pPr marL="342900" lvl="0" indent="-34290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  <a:buAutoNum type="arabicPeriod"/>
            </a:pPr>
            <a:endParaRPr lang="en-US" sz="1200" dirty="0">
              <a:solidFill>
                <a:srgbClr val="202729"/>
              </a:solidFill>
              <a:latin typeface="Times New Roman" panose="02020603050405020304" pitchFamily="18" charset="0"/>
              <a:ea typeface="Manrope SemiBold"/>
              <a:cs typeface="Times New Roman" panose="02020603050405020304" pitchFamily="18" charset="0"/>
              <a:sym typeface="Manrope SemiBold"/>
            </a:endParaRP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5.Responsible &amp; Transparent AI Design</a:t>
            </a: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Uses probabilistic outputs instead of definitive judgments</a:t>
            </a: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Avoids labeling content as “</a:t>
            </a:r>
            <a:r>
              <a:rPr lang="en-US" sz="1200" dirty="0" err="1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fake”Includes</a:t>
            </a: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 clear disclaimers</a:t>
            </a: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Encourages human judgment</a:t>
            </a:r>
          </a:p>
          <a:p>
            <a:pPr lvl="0" algn="l" rtl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SzPts val="935"/>
            </a:pPr>
            <a:r>
              <a:rPr lang="en-US" sz="1200" dirty="0">
                <a:solidFill>
                  <a:srgbClr val="202729"/>
                </a:solidFill>
                <a:latin typeface="Times New Roman" panose="02020603050405020304" pitchFamily="18" charset="0"/>
                <a:ea typeface="Manrope SemiBold"/>
                <a:cs typeface="Times New Roman" panose="02020603050405020304" pitchFamily="18" charset="0"/>
                <a:sym typeface="Manrope SemiBold"/>
              </a:rPr>
              <a:t>This ensures ethical, transparent AI usage..</a:t>
            </a:r>
          </a:p>
        </p:txBody>
      </p:sp>
    </p:spTree>
    <p:extLst>
      <p:ext uri="{BB962C8B-B14F-4D97-AF65-F5344CB8AC3E}">
        <p14:creationId xmlns:p14="http://schemas.microsoft.com/office/powerpoint/2010/main" val="177318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6522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725326"/>
            <a:ext cx="2537826" cy="427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200" b="1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Features:                                                      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1.Digital Text Analysis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Supports analysis of: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Articles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Statements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Opinion pieces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Social media posts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2. Logical Fallacy Detection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Identifies patterns such as: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Ad hominem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Slippery slope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False dilemma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Hasty generalization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sp>
        <p:nvSpPr>
          <p:cNvPr id="2" name="Google Shape;75;p16">
            <a:extLst>
              <a:ext uri="{FF2B5EF4-FFF2-40B4-BE49-F238E27FC236}">
                <a16:creationId xmlns:a16="http://schemas.microsoft.com/office/drawing/2014/main" id="{A7245327-BD28-34E6-0710-3F903B13FFC8}"/>
              </a:ext>
            </a:extLst>
          </p:cNvPr>
          <p:cNvSpPr txBox="1"/>
          <p:nvPr/>
        </p:nvSpPr>
        <p:spPr>
          <a:xfrm>
            <a:off x="3051533" y="700365"/>
            <a:ext cx="2537826" cy="427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3.Digital Text Analysis</a:t>
            </a: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Supports analysis of: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Articles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Statements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Opinion pieces</a:t>
            </a:r>
          </a:p>
          <a:p>
            <a:pPr marL="17145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Social media posts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4. Logical Fallacy Detection</a:t>
            </a: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Identifies patterns such as: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Ad hominem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Slippery slope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False dilemma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Hasty generalization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5.Manipulation Signal Detection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Detects: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Emotional exaggeration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Fear appeals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Bias framing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Overgeneralization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sp>
        <p:nvSpPr>
          <p:cNvPr id="6" name="Google Shape;75;p16">
            <a:extLst>
              <a:ext uri="{FF2B5EF4-FFF2-40B4-BE49-F238E27FC236}">
                <a16:creationId xmlns:a16="http://schemas.microsoft.com/office/drawing/2014/main" id="{D0893D4E-275F-0200-B589-5187D139A82A}"/>
              </a:ext>
            </a:extLst>
          </p:cNvPr>
          <p:cNvSpPr txBox="1"/>
          <p:nvPr/>
        </p:nvSpPr>
        <p:spPr>
          <a:xfrm>
            <a:off x="5901078" y="706373"/>
            <a:ext cx="2931221" cy="4279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6.Contextual Explanation Generation</a:t>
            </a: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Generates easy-to-understand explanations of why a pattern is detected.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7.Confidence Scoring</a:t>
            </a: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Provides probabilistic confidence scores for transparency.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8.Balanced Rewrite Suggestions</a:t>
            </a: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Suggests improved phrasing and explains why the rewrite improves clarity.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lang="en-IN"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201AB4E-C6A6-C0E0-DBDA-5FCC0D0356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054" t="3071" r="-1492" b="3610"/>
          <a:stretch/>
        </p:blipFill>
        <p:spPr>
          <a:xfrm>
            <a:off x="255181" y="616689"/>
            <a:ext cx="3880884" cy="4433776"/>
          </a:xfrm>
          <a:prstGeom prst="rect">
            <a:avLst/>
          </a:prstGeom>
          <a:ln>
            <a:noFill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5D5F673-2F2F-9762-8DD7-D8A5F8E8731D}"/>
              </a:ext>
            </a:extLst>
          </p:cNvPr>
          <p:cNvSpPr txBox="1"/>
          <p:nvPr/>
        </p:nvSpPr>
        <p:spPr>
          <a:xfrm>
            <a:off x="3668617" y="1189822"/>
            <a:ext cx="484742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Flow Diagram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pastes article or statement.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System analyzes semantic structure.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System highlights detected reasoning patterns.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User receives explanation + confidence score.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User views balanced rewrite for improved clarity.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43859" y="547098"/>
            <a:ext cx="4855211" cy="689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US" sz="17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 lang="en-US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7F28D1F-AD0E-F89D-E3FB-6BBC6F569624}"/>
              </a:ext>
            </a:extLst>
          </p:cNvPr>
          <p:cNvGrpSpPr/>
          <p:nvPr/>
        </p:nvGrpSpPr>
        <p:grpSpPr>
          <a:xfrm>
            <a:off x="1399161" y="1101688"/>
            <a:ext cx="1333022" cy="825066"/>
            <a:chOff x="1399142" y="1101687"/>
            <a:chExt cx="1916935" cy="104660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A66EADF-DF2D-2F38-8A00-28069F2C40F3}"/>
                </a:ext>
              </a:extLst>
            </p:cNvPr>
            <p:cNvSpPr/>
            <p:nvPr/>
          </p:nvSpPr>
          <p:spPr>
            <a:xfrm>
              <a:off x="1399142" y="1101687"/>
              <a:ext cx="1916935" cy="6898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B58CA50-754C-EEE8-8319-A4A285796602}"/>
                </a:ext>
              </a:extLst>
            </p:cNvPr>
            <p:cNvCxnSpPr/>
            <p:nvPr/>
          </p:nvCxnSpPr>
          <p:spPr>
            <a:xfrm>
              <a:off x="2335576" y="1791515"/>
              <a:ext cx="0" cy="3567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4023A41-9B89-9BEB-0593-B8E6046ACAAE}"/>
              </a:ext>
            </a:extLst>
          </p:cNvPr>
          <p:cNvGrpSpPr/>
          <p:nvPr/>
        </p:nvGrpSpPr>
        <p:grpSpPr>
          <a:xfrm>
            <a:off x="1396361" y="1926754"/>
            <a:ext cx="1333022" cy="825066"/>
            <a:chOff x="1399142" y="1101687"/>
            <a:chExt cx="1916935" cy="1046602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E99050A-683A-2027-3F96-E79DA8B0CE62}"/>
                </a:ext>
              </a:extLst>
            </p:cNvPr>
            <p:cNvSpPr/>
            <p:nvPr/>
          </p:nvSpPr>
          <p:spPr>
            <a:xfrm>
              <a:off x="1399142" y="1101687"/>
              <a:ext cx="1916935" cy="6898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BDD0B3AF-4227-44A9-B748-DB2482266533}"/>
                </a:ext>
              </a:extLst>
            </p:cNvPr>
            <p:cNvCxnSpPr/>
            <p:nvPr/>
          </p:nvCxnSpPr>
          <p:spPr>
            <a:xfrm>
              <a:off x="2335576" y="1791515"/>
              <a:ext cx="0" cy="3567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D377CD2-4742-1722-6A80-C07E2C046284}"/>
              </a:ext>
            </a:extLst>
          </p:cNvPr>
          <p:cNvGrpSpPr/>
          <p:nvPr/>
        </p:nvGrpSpPr>
        <p:grpSpPr>
          <a:xfrm>
            <a:off x="1441802" y="3580422"/>
            <a:ext cx="1333022" cy="825066"/>
            <a:chOff x="1399142" y="1101687"/>
            <a:chExt cx="1916935" cy="1046602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0C34891-AF8D-8E9C-7F54-7015A1E141AF}"/>
                </a:ext>
              </a:extLst>
            </p:cNvPr>
            <p:cNvSpPr/>
            <p:nvPr/>
          </p:nvSpPr>
          <p:spPr>
            <a:xfrm>
              <a:off x="1399142" y="1101687"/>
              <a:ext cx="1916935" cy="6898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F3938A9-1FCF-543A-95BB-C32225CB1925}"/>
                </a:ext>
              </a:extLst>
            </p:cNvPr>
            <p:cNvCxnSpPr/>
            <p:nvPr/>
          </p:nvCxnSpPr>
          <p:spPr>
            <a:xfrm>
              <a:off x="2335576" y="1791515"/>
              <a:ext cx="0" cy="3567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8" name="Rectangle 67">
            <a:extLst>
              <a:ext uri="{FF2B5EF4-FFF2-40B4-BE49-F238E27FC236}">
                <a16:creationId xmlns:a16="http://schemas.microsoft.com/office/drawing/2014/main" id="{B11BA17F-D748-66E6-AD49-B817C62EFD6B}"/>
              </a:ext>
            </a:extLst>
          </p:cNvPr>
          <p:cNvSpPr/>
          <p:nvPr/>
        </p:nvSpPr>
        <p:spPr>
          <a:xfrm>
            <a:off x="1396361" y="4416944"/>
            <a:ext cx="1333022" cy="5438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E054421-5144-C3C8-6948-7C5008569F54}"/>
              </a:ext>
            </a:extLst>
          </p:cNvPr>
          <p:cNvGrpSpPr/>
          <p:nvPr/>
        </p:nvGrpSpPr>
        <p:grpSpPr>
          <a:xfrm>
            <a:off x="1441802" y="2759316"/>
            <a:ext cx="1333022" cy="825066"/>
            <a:chOff x="1399142" y="1101687"/>
            <a:chExt cx="1916935" cy="1046602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4490FAA-1184-16DD-39AD-152FE1E13F05}"/>
                </a:ext>
              </a:extLst>
            </p:cNvPr>
            <p:cNvSpPr/>
            <p:nvPr/>
          </p:nvSpPr>
          <p:spPr>
            <a:xfrm>
              <a:off x="1399142" y="1101687"/>
              <a:ext cx="1916935" cy="6898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1E3E8C72-1B4D-A322-0DCC-85D85342CB65}"/>
                </a:ext>
              </a:extLst>
            </p:cNvPr>
            <p:cNvCxnSpPr/>
            <p:nvPr/>
          </p:nvCxnSpPr>
          <p:spPr>
            <a:xfrm>
              <a:off x="2335576" y="1791515"/>
              <a:ext cx="0" cy="35677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8926FE1C-AE68-4872-2F4E-3001B8A1BA28}"/>
              </a:ext>
            </a:extLst>
          </p:cNvPr>
          <p:cNvSpPr txBox="1"/>
          <p:nvPr/>
        </p:nvSpPr>
        <p:spPr>
          <a:xfrm>
            <a:off x="1403759" y="1210355"/>
            <a:ext cx="1378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2CECFE0-9700-B521-12CF-0087D8D6B5E3}"/>
              </a:ext>
            </a:extLst>
          </p:cNvPr>
          <p:cNvSpPr txBox="1"/>
          <p:nvPr/>
        </p:nvSpPr>
        <p:spPr>
          <a:xfrm>
            <a:off x="1441802" y="2894784"/>
            <a:ext cx="1378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Analysis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E5CA60E-3BA0-1A5F-88C3-ECA069B65302}"/>
              </a:ext>
            </a:extLst>
          </p:cNvPr>
          <p:cNvSpPr txBox="1"/>
          <p:nvPr/>
        </p:nvSpPr>
        <p:spPr>
          <a:xfrm>
            <a:off x="1369131" y="2065855"/>
            <a:ext cx="1378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Gateway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3A1C306-4771-E0E8-94E2-687527854CDB}"/>
              </a:ext>
            </a:extLst>
          </p:cNvPr>
          <p:cNvSpPr txBox="1"/>
          <p:nvPr/>
        </p:nvSpPr>
        <p:spPr>
          <a:xfrm>
            <a:off x="1387404" y="4534960"/>
            <a:ext cx="13784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63F7A2A-BE6B-09E2-AF26-8EB1867F9140}"/>
              </a:ext>
            </a:extLst>
          </p:cNvPr>
          <p:cNvSpPr txBox="1"/>
          <p:nvPr/>
        </p:nvSpPr>
        <p:spPr>
          <a:xfrm>
            <a:off x="1441801" y="3599574"/>
            <a:ext cx="1378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Formatting</a:t>
            </a:r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060E318-7FDE-F1F4-63D4-EE5CF9E78041}"/>
              </a:ext>
            </a:extLst>
          </p:cNvPr>
          <p:cNvSpPr txBox="1"/>
          <p:nvPr/>
        </p:nvSpPr>
        <p:spPr>
          <a:xfrm>
            <a:off x="4760755" y="2431584"/>
            <a:ext cx="34937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cloud native and scalable for concurrent users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08344" y="555205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</a:pPr>
            <a:r>
              <a:rPr lang="en-US" sz="1700" b="1" u="sng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Technologies Used: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</a:pPr>
            <a: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Frontend:</a:t>
            </a:r>
            <a:b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1200" dirty="0" err="1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Streamlit</a:t>
            </a: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(fast for demos)</a:t>
            </a:r>
            <a:b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Simple CSS / layout for clarity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</a:pPr>
            <a: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Backend:</a:t>
            </a:r>
            <a:b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Python</a:t>
            </a:r>
            <a:b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Flask / </a:t>
            </a:r>
            <a:r>
              <a:rPr lang="en-IN" sz="1200" dirty="0" err="1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FastAPI</a:t>
            </a:r>
            <a:b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JSON API communication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</a:pPr>
            <a: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AI / NLP Layer:</a:t>
            </a:r>
            <a:b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Open-source transformer model (GPT-J / GPT-Neo / </a:t>
            </a:r>
            <a:r>
              <a:rPr lang="en-IN" sz="1200" dirty="0" err="1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LLaMA</a:t>
            </a: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)</a:t>
            </a:r>
            <a:b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Simple prompt templates for fallacy detection</a:t>
            </a:r>
            <a:b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Confidence scoring implemented with heuristics or probabilities</a:t>
            </a:r>
          </a:p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</a:pPr>
            <a: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Data / Storage:</a:t>
            </a:r>
            <a:br>
              <a:rPr lang="en-IN" sz="1200" b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Local JSON / CSV for test articles (hackathon prototype)</a:t>
            </a:r>
            <a:b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br>
              <a:rPr lang="en-IN" sz="1200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</a:br>
            <a:endParaRPr sz="1200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-18" y="1437707"/>
            <a:ext cx="8973679" cy="4588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</a:pPr>
            <a:r>
              <a:rPr lang="en-US" sz="2000" b="1" u="sng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Vision</a:t>
            </a: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</a:pPr>
            <a:r>
              <a:rPr lang="en-US" sz="2000" b="1" u="sng" dirty="0" err="1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SatyaSetu</a:t>
            </a:r>
            <a:r>
              <a:rPr lang="en-US" sz="2000" b="1" u="sng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 aims to become a foundational AI-powered reasoning assistant that strengthens informed discourse, promotes digital literacy, and empowers communities across Bharat to navigate digital information responsibly.</a:t>
            </a:r>
          </a:p>
        </p:txBody>
      </p:sp>
    </p:spTree>
    <p:extLst>
      <p:ext uri="{BB962C8B-B14F-4D97-AF65-F5344CB8AC3E}">
        <p14:creationId xmlns:p14="http://schemas.microsoft.com/office/powerpoint/2010/main" val="2238873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787</Words>
  <Application>Microsoft Office PowerPoint</Application>
  <PresentationFormat>On-screen Show (16:9)</PresentationFormat>
  <Paragraphs>105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Times New Roman</vt:lpstr>
      <vt:lpstr>Manrope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Rupali Rana</dc:creator>
  <cp:lastModifiedBy>Rupali Rana</cp:lastModifiedBy>
  <cp:revision>3</cp:revision>
  <dcterms:modified xsi:type="dcterms:W3CDTF">2026-02-15T17:55:02Z</dcterms:modified>
</cp:coreProperties>
</file>